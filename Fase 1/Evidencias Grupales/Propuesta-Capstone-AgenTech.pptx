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6858000" cx="12192000"/>
  <p:notesSz cx="6858000" cy="9144000"/>
  <p:embeddedFontLst>
    <p:embeddedFont>
      <p:font typeface="Poppins"/>
      <p:regular r:id="rId19"/>
      <p:bold r:id="rId20"/>
      <p:italic r:id="rId21"/>
      <p:boldItalic r:id="rId22"/>
    </p:embeddedFont>
    <p:embeddedFont>
      <p:font typeface="Lato"/>
      <p:regular r:id="rId23"/>
      <p:bold r:id="rId24"/>
      <p:italic r:id="rId25"/>
      <p:boldItalic r:id="rId26"/>
    </p:embeddedFont>
    <p:embeddedFont>
      <p:font typeface="Poppins SemiBold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C3C7619-D346-4F50-80D1-CD64E9786F33}">
  <a:tblStyle styleId="{0C3C7619-D346-4F50-80D1-CD64E9786F3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bold.fntdata"/><Relationship Id="rId22" Type="http://schemas.openxmlformats.org/officeDocument/2006/relationships/font" Target="fonts/Poppins-boldItalic.fntdata"/><Relationship Id="rId21" Type="http://schemas.openxmlformats.org/officeDocument/2006/relationships/font" Target="fonts/Poppins-italic.fntdata"/><Relationship Id="rId24" Type="http://schemas.openxmlformats.org/officeDocument/2006/relationships/font" Target="fonts/Lato-bold.fntdata"/><Relationship Id="rId23" Type="http://schemas.openxmlformats.org/officeDocument/2006/relationships/font" Target="fonts/Lat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Lato-boldItalic.fntdata"/><Relationship Id="rId25" Type="http://schemas.openxmlformats.org/officeDocument/2006/relationships/font" Target="fonts/Lato-italic.fntdata"/><Relationship Id="rId28" Type="http://schemas.openxmlformats.org/officeDocument/2006/relationships/font" Target="fonts/PoppinsSemiBold-bold.fntdata"/><Relationship Id="rId27" Type="http://schemas.openxmlformats.org/officeDocument/2006/relationships/font" Target="fonts/PoppinsSemiBold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PoppinsSemiBold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schemas.openxmlformats.org/officeDocument/2006/relationships/font" Target="fonts/PoppinsSemiBold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Poppins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f9b598367f_5_9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3f9b598367f_5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f9b598367f_12_0)">
  <p:cSld name="Generated (g3f9b598367f_12_0)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34.png"/><Relationship Id="rId5" Type="http://schemas.openxmlformats.org/officeDocument/2006/relationships/image" Target="../media/image11.png"/><Relationship Id="rId6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0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16.png"/><Relationship Id="rId9" Type="http://schemas.openxmlformats.org/officeDocument/2006/relationships/image" Target="../media/image9.png"/><Relationship Id="rId5" Type="http://schemas.openxmlformats.org/officeDocument/2006/relationships/image" Target="../media/image7.png"/><Relationship Id="rId6" Type="http://schemas.openxmlformats.org/officeDocument/2006/relationships/image" Target="../media/image5.png"/><Relationship Id="rId7" Type="http://schemas.openxmlformats.org/officeDocument/2006/relationships/image" Target="../media/image4.png"/><Relationship Id="rId8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21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3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12.png"/><Relationship Id="rId5" Type="http://schemas.openxmlformats.org/officeDocument/2006/relationships/image" Target="../media/image27.png"/><Relationship Id="rId6" Type="http://schemas.openxmlformats.org/officeDocument/2006/relationships/image" Target="../media/image13.png"/><Relationship Id="rId7" Type="http://schemas.openxmlformats.org/officeDocument/2006/relationships/image" Target="../media/image10.png"/><Relationship Id="rId8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1" Type="http://schemas.openxmlformats.org/officeDocument/2006/relationships/image" Target="../media/image38.png"/><Relationship Id="rId10" Type="http://schemas.openxmlformats.org/officeDocument/2006/relationships/image" Target="../media/image23.png"/><Relationship Id="rId13" Type="http://schemas.openxmlformats.org/officeDocument/2006/relationships/image" Target="../media/image26.png"/><Relationship Id="rId12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36.png"/><Relationship Id="rId9" Type="http://schemas.openxmlformats.org/officeDocument/2006/relationships/image" Target="../media/image24.png"/><Relationship Id="rId15" Type="http://schemas.openxmlformats.org/officeDocument/2006/relationships/image" Target="../media/image31.png"/><Relationship Id="rId14" Type="http://schemas.openxmlformats.org/officeDocument/2006/relationships/image" Target="../media/image40.png"/><Relationship Id="rId5" Type="http://schemas.openxmlformats.org/officeDocument/2006/relationships/image" Target="../media/image20.png"/><Relationship Id="rId6" Type="http://schemas.openxmlformats.org/officeDocument/2006/relationships/image" Target="../media/image19.png"/><Relationship Id="rId7" Type="http://schemas.openxmlformats.org/officeDocument/2006/relationships/image" Target="../media/image25.png"/><Relationship Id="rId8" Type="http://schemas.openxmlformats.org/officeDocument/2006/relationships/image" Target="../media/image2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0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41.png"/><Relationship Id="rId9" Type="http://schemas.openxmlformats.org/officeDocument/2006/relationships/image" Target="../media/image37.png"/><Relationship Id="rId5" Type="http://schemas.openxmlformats.org/officeDocument/2006/relationships/image" Target="../media/image22.png"/><Relationship Id="rId6" Type="http://schemas.openxmlformats.org/officeDocument/2006/relationships/image" Target="../media/image24.png"/><Relationship Id="rId7" Type="http://schemas.openxmlformats.org/officeDocument/2006/relationships/image" Target="../media/image42.png"/><Relationship Id="rId8" Type="http://schemas.openxmlformats.org/officeDocument/2006/relationships/image" Target="../media/image3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43.png"/><Relationship Id="rId5" Type="http://schemas.openxmlformats.org/officeDocument/2006/relationships/image" Target="../media/image35.png"/><Relationship Id="rId6" Type="http://schemas.openxmlformats.org/officeDocument/2006/relationships/image" Target="../media/image39.png"/><Relationship Id="rId7" Type="http://schemas.openxmlformats.org/officeDocument/2006/relationships/image" Target="../media/image3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5" name="Google Shape;8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19350" y="3727995"/>
            <a:ext cx="7353300" cy="8743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7" name="Google Shape;87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71987" y="2179439"/>
            <a:ext cx="3248025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4"/>
          <p:cNvSpPr txBox="1"/>
          <p:nvPr/>
        </p:nvSpPr>
        <p:spPr>
          <a:xfrm>
            <a:off x="2235517" y="2598539"/>
            <a:ext cx="7720965" cy="565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AgenTech</a:t>
            </a:r>
            <a:endParaRPr/>
          </a:p>
        </p:txBody>
      </p:sp>
      <p:sp>
        <p:nvSpPr>
          <p:cNvPr id="89" name="Google Shape;89;p14"/>
          <p:cNvSpPr txBox="1"/>
          <p:nvPr/>
        </p:nvSpPr>
        <p:spPr>
          <a:xfrm>
            <a:off x="2419350" y="3297584"/>
            <a:ext cx="7353300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Motor Híbrido Open-Source de Búsqueda Semántica, Inferencia Técnica e Integración Transaccional</a:t>
            </a:r>
            <a:endParaRPr/>
          </a:p>
        </p:txBody>
      </p:sp>
      <p:sp>
        <p:nvSpPr>
          <p:cNvPr id="90" name="Google Shape;90;p14"/>
          <p:cNvSpPr txBox="1"/>
          <p:nvPr/>
        </p:nvSpPr>
        <p:spPr>
          <a:xfrm>
            <a:off x="2419350" y="3889920"/>
            <a:ext cx="73533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DUOC UC – Escuela de Informática y Telecomunicaciones</a:t>
            </a:r>
            <a:endParaRPr/>
          </a:p>
        </p:txBody>
      </p:sp>
      <p:sp>
        <p:nvSpPr>
          <p:cNvPr id="91" name="Google Shape;91;p14"/>
          <p:cNvSpPr txBox="1"/>
          <p:nvPr/>
        </p:nvSpPr>
        <p:spPr>
          <a:xfrm>
            <a:off x="2419350" y="4166145"/>
            <a:ext cx="73533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Integrantes:</a:t>
            </a:r>
            <a:r>
              <a:rPr b="0" i="0" lang="en-US" sz="11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Tomás Brogi Castillo  |  David Martínez Arenas</a:t>
            </a:r>
            <a:endParaRPr/>
          </a:p>
        </p:txBody>
      </p:sp>
      <p:sp>
        <p:nvSpPr>
          <p:cNvPr id="92" name="Google Shape;92;p14"/>
          <p:cNvSpPr txBox="1"/>
          <p:nvPr/>
        </p:nvSpPr>
        <p:spPr>
          <a:xfrm>
            <a:off x="2419350" y="4442370"/>
            <a:ext cx="7353300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Planificación según estándares: IEEE 830, ISO 9000 y PMI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7" name="Google Shape;9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300" y="2886075"/>
            <a:ext cx="5467350" cy="1752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29350" y="2886075"/>
            <a:ext cx="5467350" cy="1752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5"/>
          <p:cNvSpPr txBox="1"/>
          <p:nvPr/>
        </p:nvSpPr>
        <p:spPr>
          <a:xfrm>
            <a:off x="1047750" y="3105150"/>
            <a:ext cx="4910613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40A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Catálogos Masivos y Complejos</a:t>
            </a:r>
            <a:endParaRPr/>
          </a:p>
        </p:txBody>
      </p:sp>
      <p:sp>
        <p:nvSpPr>
          <p:cNvPr id="101" name="Google Shape;101;p15"/>
          <p:cNvSpPr txBox="1"/>
          <p:nvPr/>
        </p:nvSpPr>
        <p:spPr>
          <a:xfrm>
            <a:off x="6800850" y="3105150"/>
            <a:ext cx="4890611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40A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Realidad de la Venta en Mesón</a:t>
            </a:r>
            <a:endParaRPr/>
          </a:p>
        </p:txBody>
      </p:sp>
      <p:pic>
        <p:nvPicPr>
          <p:cNvPr descr="image.png" id="102" name="Google Shape;10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3425" y="3152775"/>
            <a:ext cx="2190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5"/>
          <p:cNvSpPr txBox="1"/>
          <p:nvPr/>
        </p:nvSpPr>
        <p:spPr>
          <a:xfrm>
            <a:off x="819150" y="3467100"/>
            <a:ext cx="857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904875" y="3467100"/>
            <a:ext cx="48196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725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Diversidad de Especificaciones:</a:t>
            </a:r>
            <a:r>
              <a:rPr b="0" i="0" lang="en-US" sz="11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Miles de productos técnicos con medidas en pulgadas, milímetros, grados de resistencia y marcas dispares.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819150" y="3943350"/>
            <a:ext cx="857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904875" y="3943350"/>
            <a:ext cx="48196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725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Descripciones Fragmentadas:</a:t>
            </a:r>
            <a:r>
              <a:rPr b="0" i="0" lang="en-US" sz="11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Nombres técnicos abreviados o no estandarizados que dificultan la búsqueda rápida en software tradicional.</a:t>
            </a:r>
            <a:endParaRPr/>
          </a:p>
        </p:txBody>
      </p:sp>
      <p:pic>
        <p:nvPicPr>
          <p:cNvPr descr="image.png" id="107" name="Google Shape;107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67475" y="3152775"/>
            <a:ext cx="23812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5"/>
          <p:cNvSpPr txBox="1"/>
          <p:nvPr/>
        </p:nvSpPr>
        <p:spPr>
          <a:xfrm>
            <a:off x="6553200" y="3467100"/>
            <a:ext cx="857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6638925" y="3467100"/>
            <a:ext cx="48196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725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Consultas por Necesidad:</a:t>
            </a:r>
            <a:r>
              <a:rPr b="0" i="0" lang="en-US" sz="11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Los clientes no compran por SKU; exponen problemas (ej. </a:t>
            </a:r>
            <a:r>
              <a:rPr b="0" i="1" lang="en-US" sz="11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"se filtra agua en unión PVC 1/2"</a:t>
            </a:r>
            <a:r>
              <a:rPr b="0" i="0" lang="en-US" sz="11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).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6553200" y="3943350"/>
            <a:ext cx="857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6638925" y="3943350"/>
            <a:ext cx="48196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725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Dependencia del Experto:</a:t>
            </a:r>
            <a:r>
              <a:rPr b="0" i="0" lang="en-US" sz="11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Vendedores novatos pierden ventas al no conocer las combinaciones de materiales ni su stock en bodega.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495300" y="419100"/>
            <a:ext cx="11696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Contexto del Entorno: Ferreterías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7" name="Google Shape;11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8" name="Google Shape;118;p16"/>
          <p:cNvGraphicFramePr/>
          <p:nvPr/>
        </p:nvGraphicFramePr>
        <p:xfrm>
          <a:off x="495300" y="273397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{0C3C7619-D346-4F50-80D1-CD64E9786F33}</a:tableStyleId>
              </a:tblPr>
              <a:tblGrid>
                <a:gridCol w="2800350"/>
                <a:gridCol w="4144425"/>
                <a:gridCol w="4256625"/>
              </a:tblGrid>
              <a:tr h="514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Enfoque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Limitación Crítica en Negocio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Respuesta de AgenTech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514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12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Búsqueda SQL Tradicional</a:t>
                      </a:r>
                      <a:b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0" i="0" lang="en-US" sz="1012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Filtros LIKE %texto%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Falla ante modismos, faltas de ortografía o descripciones funcionales del cliente.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12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Espacio Semántico Vectorial:</a:t>
                      </a:r>
                      <a:r>
                        <a:rPr b="0" i="0" lang="en-US" sz="1012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Mapea intención conceptual sin exigir coincidencia exacta de texto.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4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12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IA Genérica / LLM Aislado</a:t>
                      </a:r>
                      <a:b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0" i="0" lang="en-US" sz="1012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ChatGPT / Modelos sin BD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en-US" sz="1012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Alucinación de stock:</a:t>
                      </a:r>
                      <a:r>
                        <a:rPr b="0" i="0" lang="en-US" sz="1012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sugiere productos ideales que no existen físicamente en la bodega.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12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Cruce Híbrido Transaccional:</a:t>
                      </a:r>
                      <a:r>
                        <a:rPr b="0" i="0" lang="en-US" sz="1012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IA calcula similitud, pero PostgreSQL filtra estrictamente stock &gt; 0.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4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12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AgenTech Core</a:t>
                      </a:r>
                      <a:b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0" i="0" lang="en-US" sz="1012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Motor Desacoplado Open-Source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Resuelve la desconexión total entre lenguaje natural e inventario transaccional.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12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Núcleo Universal:</a:t>
                      </a:r>
                      <a:r>
                        <a:rPr b="0" i="0" lang="en-US" sz="1012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Integrable vía API REST a cualquier ERP o POS ferretero de terceros.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9" name="Google Shape;119;p16"/>
          <p:cNvSpPr/>
          <p:nvPr/>
        </p:nvSpPr>
        <p:spPr>
          <a:xfrm>
            <a:off x="495300" y="3106340"/>
            <a:ext cx="28003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6"/>
          <p:cNvSpPr/>
          <p:nvPr/>
        </p:nvSpPr>
        <p:spPr>
          <a:xfrm>
            <a:off x="3295650" y="3106340"/>
            <a:ext cx="414441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6"/>
          <p:cNvSpPr/>
          <p:nvPr/>
        </p:nvSpPr>
        <p:spPr>
          <a:xfrm>
            <a:off x="7440066" y="3106340"/>
            <a:ext cx="42566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6"/>
          <p:cNvSpPr/>
          <p:nvPr/>
        </p:nvSpPr>
        <p:spPr>
          <a:xfrm>
            <a:off x="495300" y="3666232"/>
            <a:ext cx="28003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3295650" y="3666232"/>
            <a:ext cx="414441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6"/>
          <p:cNvSpPr/>
          <p:nvPr/>
        </p:nvSpPr>
        <p:spPr>
          <a:xfrm>
            <a:off x="7440066" y="3666232"/>
            <a:ext cx="42566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6"/>
          <p:cNvSpPr/>
          <p:nvPr/>
        </p:nvSpPr>
        <p:spPr>
          <a:xfrm>
            <a:off x="495300" y="4226123"/>
            <a:ext cx="28003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6"/>
          <p:cNvSpPr/>
          <p:nvPr/>
        </p:nvSpPr>
        <p:spPr>
          <a:xfrm>
            <a:off x="3295650" y="4226123"/>
            <a:ext cx="414441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6"/>
          <p:cNvSpPr/>
          <p:nvPr/>
        </p:nvSpPr>
        <p:spPr>
          <a:xfrm>
            <a:off x="7440066" y="4226123"/>
            <a:ext cx="42566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6"/>
          <p:cNvSpPr txBox="1"/>
          <p:nvPr/>
        </p:nvSpPr>
        <p:spPr>
          <a:xfrm>
            <a:off x="495300" y="419100"/>
            <a:ext cx="11696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Diagnóstico y Solución AgenTech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3" name="Google Shape;13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300" y="2806749"/>
            <a:ext cx="2686050" cy="1911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33750" y="2806749"/>
            <a:ext cx="2686050" cy="1911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72200" y="2806749"/>
            <a:ext cx="2686050" cy="1911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10650" y="2806749"/>
            <a:ext cx="2686050" cy="1911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7225" y="2987724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7"/>
          <p:cNvSpPr txBox="1"/>
          <p:nvPr/>
        </p:nvSpPr>
        <p:spPr>
          <a:xfrm>
            <a:off x="657225" y="3483024"/>
            <a:ext cx="1670208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1. Ingesta Inteligente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657225" y="3778299"/>
            <a:ext cx="2362200" cy="6941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2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Normaliza catálogos sucios o abreviados (ej. </a:t>
            </a:r>
            <a:r>
              <a:rPr b="0" i="1" lang="en-US" sz="1012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"Torn. autoperf 1/2"</a:t>
            </a:r>
            <a:r>
              <a:rPr b="0" i="0" lang="en-US" sz="1012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), extrayendo metadatos y categorías técnicas automáticamente.</a:t>
            </a:r>
            <a:endParaRPr/>
          </a:p>
        </p:txBody>
      </p:sp>
      <p:pic>
        <p:nvPicPr>
          <p:cNvPr descr="image.png" id="141" name="Google Shape;141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495675" y="2987724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7"/>
          <p:cNvSpPr txBox="1"/>
          <p:nvPr/>
        </p:nvSpPr>
        <p:spPr>
          <a:xfrm>
            <a:off x="3495675" y="3483024"/>
            <a:ext cx="2220277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2. Vectorización Asíncrona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3495675" y="3778299"/>
            <a:ext cx="2362200" cy="6941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2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Genera embeddings de metadatos mediante modelos de lenguaje y los almacena indexados con HNSW en pgvector.</a:t>
            </a:r>
            <a:endParaRPr/>
          </a:p>
        </p:txBody>
      </p:sp>
      <p:pic>
        <p:nvPicPr>
          <p:cNvPr descr="image.png" id="144" name="Google Shape;144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987724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7"/>
          <p:cNvSpPr txBox="1"/>
          <p:nvPr/>
        </p:nvSpPr>
        <p:spPr>
          <a:xfrm>
            <a:off x="6334125" y="3483024"/>
            <a:ext cx="1950243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3. Traducción Coloquial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6334125" y="3778299"/>
            <a:ext cx="2362200" cy="6941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2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Interpreta jerga informal o términos de taller (ej. </a:t>
            </a:r>
            <a:r>
              <a:rPr b="0" i="1" lang="en-US" sz="1012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"tarugos pal concreto"</a:t>
            </a:r>
            <a:r>
              <a:rPr b="0" i="0" lang="en-US" sz="1012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o </a:t>
            </a:r>
            <a:r>
              <a:rPr b="0" i="1" lang="en-US" sz="1012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"huincha"</a:t>
            </a:r>
            <a:r>
              <a:rPr b="0" i="0" lang="en-US" sz="1012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) asociándolos a la ficha técnica oficial.</a:t>
            </a:r>
            <a:endParaRPr/>
          </a:p>
        </p:txBody>
      </p:sp>
      <p:pic>
        <p:nvPicPr>
          <p:cNvPr descr="image.png" id="147" name="Google Shape;147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172575" y="2987724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7"/>
          <p:cNvSpPr txBox="1"/>
          <p:nvPr/>
        </p:nvSpPr>
        <p:spPr>
          <a:xfrm>
            <a:off x="9172575" y="3483024"/>
            <a:ext cx="248031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4. Complementos y Sustitutos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9172575" y="4016424"/>
            <a:ext cx="2362200" cy="5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2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Infiere kits indispensables (perfil + tornillo + sellante) y sugiere sustitutos técnicos ante quiebres de inventario.</a:t>
            </a:r>
            <a:endParaRPr/>
          </a:p>
        </p:txBody>
      </p:sp>
      <p:pic>
        <p:nvPicPr>
          <p:cNvPr descr="image.png" id="150" name="Google Shape;150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38187" y="3082974"/>
            <a:ext cx="2190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590925" y="3082974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2" name="Google Shape;152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405562" y="3082974"/>
            <a:ext cx="2381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277350" y="3082974"/>
            <a:ext cx="17145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7"/>
          <p:cNvSpPr txBox="1"/>
          <p:nvPr/>
        </p:nvSpPr>
        <p:spPr>
          <a:xfrm>
            <a:off x="495300" y="419100"/>
            <a:ext cx="11696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Labores del Motor de Inteligencia Artificial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9" name="Google Shape;15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60" name="Google Shape;160;p18"/>
          <p:cNvGraphicFramePr/>
          <p:nvPr/>
        </p:nvGraphicFramePr>
        <p:xfrm>
          <a:off x="495300" y="245402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{0C3C7619-D346-4F50-80D1-CD64E9786F33}</a:tableStyleId>
              </a:tblPr>
              <a:tblGrid>
                <a:gridCol w="2800350"/>
                <a:gridCol w="3136250"/>
                <a:gridCol w="5264800"/>
              </a:tblGrid>
              <a:tr h="523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Capa Arquitectónica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Tecnología / Framework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Justificación Técnica y Rol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523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12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API Gateway &amp; Core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12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Node.js / Express / TS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I/O no bloqueante de alta concurrencia, tipado estático y serialización JSON veloz para POS.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3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12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Pipeline IA &amp; NLP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12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Python / FastAPI / LangChain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Procesamiento asíncrono de modelos de embeddings, normalización lingüística y similitud.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3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12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Base de Datos Híbrida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12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PostgreSQL + pgvector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Garantía transaccional ACID para stock combinada con índices vectoriales nativos (HNSW).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3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12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Infraestructura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12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Docker &amp; Docker Compose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Contenerización modular, aislamiento de servicios y portabilidad en servidores locales o cloud.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1" name="Google Shape;161;p18"/>
          <p:cNvSpPr/>
          <p:nvPr/>
        </p:nvSpPr>
        <p:spPr>
          <a:xfrm>
            <a:off x="495300" y="2826394"/>
            <a:ext cx="28003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8"/>
          <p:cNvSpPr/>
          <p:nvPr/>
        </p:nvSpPr>
        <p:spPr>
          <a:xfrm>
            <a:off x="3295650" y="2826394"/>
            <a:ext cx="313625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8"/>
          <p:cNvSpPr/>
          <p:nvPr/>
        </p:nvSpPr>
        <p:spPr>
          <a:xfrm>
            <a:off x="6431905" y="2826394"/>
            <a:ext cx="526479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8"/>
          <p:cNvSpPr/>
          <p:nvPr/>
        </p:nvSpPr>
        <p:spPr>
          <a:xfrm>
            <a:off x="495300" y="3386286"/>
            <a:ext cx="28003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8"/>
          <p:cNvSpPr/>
          <p:nvPr/>
        </p:nvSpPr>
        <p:spPr>
          <a:xfrm>
            <a:off x="3295650" y="3386286"/>
            <a:ext cx="313625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8"/>
          <p:cNvSpPr/>
          <p:nvPr/>
        </p:nvSpPr>
        <p:spPr>
          <a:xfrm>
            <a:off x="6431905" y="3386286"/>
            <a:ext cx="526479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8"/>
          <p:cNvSpPr/>
          <p:nvPr/>
        </p:nvSpPr>
        <p:spPr>
          <a:xfrm>
            <a:off x="495300" y="3946177"/>
            <a:ext cx="28003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8"/>
          <p:cNvSpPr/>
          <p:nvPr/>
        </p:nvSpPr>
        <p:spPr>
          <a:xfrm>
            <a:off x="3295650" y="3946177"/>
            <a:ext cx="313625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8"/>
          <p:cNvSpPr/>
          <p:nvPr/>
        </p:nvSpPr>
        <p:spPr>
          <a:xfrm>
            <a:off x="6431905" y="3946177"/>
            <a:ext cx="526479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8"/>
          <p:cNvSpPr/>
          <p:nvPr/>
        </p:nvSpPr>
        <p:spPr>
          <a:xfrm>
            <a:off x="495300" y="4506069"/>
            <a:ext cx="28003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8"/>
          <p:cNvSpPr/>
          <p:nvPr/>
        </p:nvSpPr>
        <p:spPr>
          <a:xfrm>
            <a:off x="3295650" y="4506069"/>
            <a:ext cx="313625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8"/>
          <p:cNvSpPr/>
          <p:nvPr/>
        </p:nvSpPr>
        <p:spPr>
          <a:xfrm>
            <a:off x="6431905" y="4506069"/>
            <a:ext cx="526479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8"/>
          <p:cNvSpPr txBox="1"/>
          <p:nvPr/>
        </p:nvSpPr>
        <p:spPr>
          <a:xfrm>
            <a:off x="495300" y="419100"/>
            <a:ext cx="11696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Arquitectura Técnica y Stack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8" name="Google Shape;17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300" y="2647950"/>
            <a:ext cx="5467350" cy="2228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29350" y="2647950"/>
            <a:ext cx="5467350" cy="222885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9"/>
          <p:cNvSpPr txBox="1"/>
          <p:nvPr/>
        </p:nvSpPr>
        <p:spPr>
          <a:xfrm>
            <a:off x="1066800" y="2867025"/>
            <a:ext cx="4890611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40A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Competencias del Plan</a:t>
            </a:r>
            <a:endParaRPr/>
          </a:p>
        </p:txBody>
      </p:sp>
      <p:sp>
        <p:nvSpPr>
          <p:cNvPr id="182" name="Google Shape;182;p19"/>
          <p:cNvSpPr txBox="1"/>
          <p:nvPr/>
        </p:nvSpPr>
        <p:spPr>
          <a:xfrm>
            <a:off x="6753225" y="2867025"/>
            <a:ext cx="4940617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40A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Aspiraciones Profesionales</a:t>
            </a:r>
            <a:endParaRPr/>
          </a:p>
        </p:txBody>
      </p:sp>
      <p:pic>
        <p:nvPicPr>
          <p:cNvPr descr="image.png" id="183" name="Google Shape;183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33425" y="2914650"/>
            <a:ext cx="23812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9"/>
          <p:cNvSpPr txBox="1"/>
          <p:nvPr/>
        </p:nvSpPr>
        <p:spPr>
          <a:xfrm>
            <a:off x="819150" y="3228975"/>
            <a:ext cx="857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85" name="Google Shape;185;p19"/>
          <p:cNvSpPr txBox="1"/>
          <p:nvPr/>
        </p:nvSpPr>
        <p:spPr>
          <a:xfrm>
            <a:off x="904875" y="3228975"/>
            <a:ext cx="48196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725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Modelos de Datos:</a:t>
            </a:r>
            <a:r>
              <a:rPr b="0" i="0" lang="en-US" sz="11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Diseño e implementación de esquemas relacionales transaccionales y capas vectoriales escalables.</a:t>
            </a:r>
            <a:endParaRPr/>
          </a:p>
        </p:txBody>
      </p:sp>
      <p:sp>
        <p:nvSpPr>
          <p:cNvPr id="186" name="Google Shape;186;p19"/>
          <p:cNvSpPr txBox="1"/>
          <p:nvPr/>
        </p:nvSpPr>
        <p:spPr>
          <a:xfrm>
            <a:off x="819150" y="3705225"/>
            <a:ext cx="857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87" name="Google Shape;187;p19"/>
          <p:cNvSpPr txBox="1"/>
          <p:nvPr/>
        </p:nvSpPr>
        <p:spPr>
          <a:xfrm>
            <a:off x="904875" y="3705225"/>
            <a:ext cx="48196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725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Gestión de Proyectos:</a:t>
            </a:r>
            <a:r>
              <a:rPr b="0" i="0" lang="en-US" sz="11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Planificación, estimación con Planning Poker y control ágil bajo estándares IEEE 830 y PMI.</a:t>
            </a:r>
            <a:endParaRPr/>
          </a:p>
        </p:txBody>
      </p:sp>
      <p:sp>
        <p:nvSpPr>
          <p:cNvPr id="188" name="Google Shape;188;p19"/>
          <p:cNvSpPr txBox="1"/>
          <p:nvPr/>
        </p:nvSpPr>
        <p:spPr>
          <a:xfrm>
            <a:off x="819150" y="4181475"/>
            <a:ext cx="857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89" name="Google Shape;189;p19"/>
          <p:cNvSpPr txBox="1"/>
          <p:nvPr/>
        </p:nvSpPr>
        <p:spPr>
          <a:xfrm>
            <a:off x="904875" y="4181475"/>
            <a:ext cx="48196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725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Certificación de Calidad:</a:t>
            </a:r>
            <a:r>
              <a:rPr b="0" i="0" lang="en-US" sz="11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Validación de contratos de API REST, pruebas de estrés y métricas de precisión semántica.</a:t>
            </a:r>
            <a:endParaRPr/>
          </a:p>
        </p:txBody>
      </p:sp>
      <p:pic>
        <p:nvPicPr>
          <p:cNvPr descr="image.png" id="190" name="Google Shape;190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67475" y="2914650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9"/>
          <p:cNvSpPr txBox="1"/>
          <p:nvPr/>
        </p:nvSpPr>
        <p:spPr>
          <a:xfrm>
            <a:off x="6553200" y="3228975"/>
            <a:ext cx="857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92" name="Google Shape;192;p19"/>
          <p:cNvSpPr txBox="1"/>
          <p:nvPr/>
        </p:nvSpPr>
        <p:spPr>
          <a:xfrm>
            <a:off x="6638925" y="3228975"/>
            <a:ext cx="48196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725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Superación del Monolito:</a:t>
            </a:r>
            <a:r>
              <a:rPr b="0" i="0" lang="en-US" sz="11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Transición hacia microservicios desacoplados y empaquetables de nivel industrial.</a:t>
            </a:r>
            <a:endParaRPr/>
          </a:p>
        </p:txBody>
      </p:sp>
      <p:sp>
        <p:nvSpPr>
          <p:cNvPr id="193" name="Google Shape;193;p19"/>
          <p:cNvSpPr txBox="1"/>
          <p:nvPr/>
        </p:nvSpPr>
        <p:spPr>
          <a:xfrm>
            <a:off x="6553200" y="3705225"/>
            <a:ext cx="857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94" name="Google Shape;194;p19"/>
          <p:cNvSpPr txBox="1"/>
          <p:nvPr/>
        </p:nvSpPr>
        <p:spPr>
          <a:xfrm>
            <a:off x="6638925" y="3705225"/>
            <a:ext cx="48196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725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Aporte Open-Source:</a:t>
            </a:r>
            <a:r>
              <a:rPr b="0" i="0" lang="en-US" sz="11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Construcción de un motor distribuible y reutilizable para la comunidad de desarrolladores.</a:t>
            </a:r>
            <a:endParaRPr/>
          </a:p>
        </p:txBody>
      </p:sp>
      <p:sp>
        <p:nvSpPr>
          <p:cNvPr id="195" name="Google Shape;195;p19"/>
          <p:cNvSpPr txBox="1"/>
          <p:nvPr/>
        </p:nvSpPr>
        <p:spPr>
          <a:xfrm>
            <a:off x="6553200" y="4181475"/>
            <a:ext cx="857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96" name="Google Shape;196;p19"/>
          <p:cNvSpPr txBox="1"/>
          <p:nvPr/>
        </p:nvSpPr>
        <p:spPr>
          <a:xfrm>
            <a:off x="6638925" y="4181475"/>
            <a:ext cx="48196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725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Rigor de Ingeniería:</a:t>
            </a:r>
            <a:r>
              <a:rPr b="0" i="0" lang="en-US" sz="11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Aplicación de estándares de documentación, arquitectura limpia y testing continuo.</a:t>
            </a:r>
            <a:endParaRPr/>
          </a:p>
        </p:txBody>
      </p:sp>
      <p:sp>
        <p:nvSpPr>
          <p:cNvPr id="197" name="Google Shape;197;p19"/>
          <p:cNvSpPr txBox="1"/>
          <p:nvPr/>
        </p:nvSpPr>
        <p:spPr>
          <a:xfrm>
            <a:off x="495300" y="419100"/>
            <a:ext cx="11696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Alineación con Perfil de Egreso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2" name="Google Shape;20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0"/>
          <p:cNvSpPr txBox="1"/>
          <p:nvPr/>
        </p:nvSpPr>
        <p:spPr>
          <a:xfrm>
            <a:off x="800100" y="2143125"/>
            <a:ext cx="5162550" cy="3866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87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Objetivo General:</a:t>
            </a:r>
            <a:r>
              <a:rPr b="0" i="0" lang="en-US" sz="1087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Desarrollar un motor backend agnóstico de búsqueda semántica híbrida que procese lenguaje natural con filtrado estricto de stock.</a:t>
            </a:r>
            <a:endParaRPr/>
          </a:p>
        </p:txBody>
      </p:sp>
      <p:sp>
        <p:nvSpPr>
          <p:cNvPr id="204" name="Google Shape;204;p20"/>
          <p:cNvSpPr txBox="1"/>
          <p:nvPr/>
        </p:nvSpPr>
        <p:spPr>
          <a:xfrm>
            <a:off x="800100" y="2644080"/>
            <a:ext cx="5162550" cy="3866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87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Ingesta Relacional:</a:t>
            </a:r>
            <a:r>
              <a:rPr b="0" i="0" lang="en-US" sz="1087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Validar y persistir catálogos maestros estructurados en PostgreSQL vía API Node.js.</a:t>
            </a:r>
            <a:endParaRPr/>
          </a:p>
        </p:txBody>
      </p:sp>
      <p:sp>
        <p:nvSpPr>
          <p:cNvPr id="205" name="Google Shape;205;p20"/>
          <p:cNvSpPr txBox="1"/>
          <p:nvPr/>
        </p:nvSpPr>
        <p:spPr>
          <a:xfrm>
            <a:off x="800100" y="3145035"/>
            <a:ext cx="5162550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87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Pipeline Vectorial:</a:t>
            </a:r>
            <a:r>
              <a:rPr b="0" i="0" lang="en-US" sz="1087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Generación y persistencia asíncrona de embeddings en pgvector con Python.</a:t>
            </a:r>
            <a:endParaRPr/>
          </a:p>
        </p:txBody>
      </p:sp>
      <p:sp>
        <p:nvSpPr>
          <p:cNvPr id="206" name="Google Shape;206;p20"/>
          <p:cNvSpPr txBox="1"/>
          <p:nvPr/>
        </p:nvSpPr>
        <p:spPr>
          <a:xfrm>
            <a:off x="800100" y="3655516"/>
            <a:ext cx="5162550" cy="3866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87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Búsqueda Híbrida:</a:t>
            </a:r>
            <a:r>
              <a:rPr b="0" i="0" lang="en-US" sz="1087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Filtro estricto de disponibilidad (stock &gt; 0) con score de corte semántico.</a:t>
            </a:r>
            <a:endParaRPr/>
          </a:p>
        </p:txBody>
      </p:sp>
      <p:pic>
        <p:nvPicPr>
          <p:cNvPr descr="image.png" id="207" name="Google Shape;207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300" y="2171700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8" name="Google Shape;208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5300" y="2672655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9" name="Google Shape;209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5300" y="3173610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0" name="Google Shape;210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95300" y="3684091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0"/>
          <p:cNvSpPr txBox="1"/>
          <p:nvPr/>
        </p:nvSpPr>
        <p:spPr>
          <a:xfrm>
            <a:off x="495300" y="419100"/>
            <a:ext cx="11696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Objetivos del Proyecto y Factibilidad</a:t>
            </a:r>
            <a:endParaRPr/>
          </a:p>
        </p:txBody>
      </p:sp>
      <p:pic>
        <p:nvPicPr>
          <p:cNvPr id="212" name="Google Shape;212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962650" y="1028675"/>
            <a:ext cx="6055974" cy="4739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7" name="Google Shape;21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8" name="Google Shape;218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151" y="2925812"/>
            <a:ext cx="2118419" cy="1673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9" name="Google Shape;219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765970" y="2925812"/>
            <a:ext cx="2118419" cy="1673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0" name="Google Shape;220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36790" y="2925812"/>
            <a:ext cx="2118419" cy="1673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1" name="Google Shape;221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307609" y="2925812"/>
            <a:ext cx="2118419" cy="1673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2" name="Google Shape;222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78429" y="2925812"/>
            <a:ext cx="2118419" cy="1673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3" name="Google Shape;223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7076" y="310678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1"/>
          <p:cNvSpPr txBox="1"/>
          <p:nvPr/>
        </p:nvSpPr>
        <p:spPr>
          <a:xfrm>
            <a:off x="657076" y="3602087"/>
            <a:ext cx="76009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1. Ingesta</a:t>
            </a:r>
            <a:endParaRPr/>
          </a:p>
        </p:txBody>
      </p:sp>
      <p:sp>
        <p:nvSpPr>
          <p:cNvPr id="225" name="Google Shape;225;p21"/>
          <p:cNvSpPr txBox="1"/>
          <p:nvPr/>
        </p:nvSpPr>
        <p:spPr>
          <a:xfrm>
            <a:off x="657076" y="3897362"/>
            <a:ext cx="1794569" cy="5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2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El POS ferretero inyecta catálogo de prueba en JSON vía API REST (Node.js).</a:t>
            </a:r>
            <a:endParaRPr/>
          </a:p>
        </p:txBody>
      </p:sp>
      <p:pic>
        <p:nvPicPr>
          <p:cNvPr descr="image.png" id="226" name="Google Shape;226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927895" y="310678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1"/>
          <p:cNvSpPr txBox="1"/>
          <p:nvPr/>
        </p:nvSpPr>
        <p:spPr>
          <a:xfrm>
            <a:off x="2927895" y="3602087"/>
            <a:ext cx="1330166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2. Vectorización</a:t>
            </a:r>
            <a:endParaRPr/>
          </a:p>
        </p:txBody>
      </p:sp>
      <p:sp>
        <p:nvSpPr>
          <p:cNvPr id="228" name="Google Shape;228;p21"/>
          <p:cNvSpPr txBox="1"/>
          <p:nvPr/>
        </p:nvSpPr>
        <p:spPr>
          <a:xfrm>
            <a:off x="2927895" y="3897362"/>
            <a:ext cx="1794569" cy="5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2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Persistencia relacional y generación asíncrona de embeddings en pgvector.</a:t>
            </a:r>
            <a:endParaRPr/>
          </a:p>
        </p:txBody>
      </p:sp>
      <p:pic>
        <p:nvPicPr>
          <p:cNvPr descr="image.png" id="229" name="Google Shape;229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198715" y="310678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1"/>
          <p:cNvSpPr txBox="1"/>
          <p:nvPr/>
        </p:nvSpPr>
        <p:spPr>
          <a:xfrm>
            <a:off x="5198715" y="3602087"/>
            <a:ext cx="930116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3. Consulta</a:t>
            </a:r>
            <a:endParaRPr/>
          </a:p>
        </p:txBody>
      </p:sp>
      <p:sp>
        <p:nvSpPr>
          <p:cNvPr id="231" name="Google Shape;231;p21"/>
          <p:cNvSpPr txBox="1"/>
          <p:nvPr/>
        </p:nvSpPr>
        <p:spPr>
          <a:xfrm>
            <a:off x="5198715" y="3897362"/>
            <a:ext cx="1794569" cy="5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2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El vendedor ingresa lenguaje natural (ej. </a:t>
            </a:r>
            <a:r>
              <a:rPr b="0" i="1" lang="en-US" sz="1012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"gotera en techo de zinc"</a:t>
            </a:r>
            <a:r>
              <a:rPr b="0" i="0" lang="en-US" sz="1012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).</a:t>
            </a:r>
            <a:endParaRPr/>
          </a:p>
        </p:txBody>
      </p:sp>
      <p:pic>
        <p:nvPicPr>
          <p:cNvPr descr="image.png" id="232" name="Google Shape;232;p2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469534" y="310678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1"/>
          <p:cNvSpPr txBox="1"/>
          <p:nvPr/>
        </p:nvSpPr>
        <p:spPr>
          <a:xfrm>
            <a:off x="7469534" y="3602087"/>
            <a:ext cx="1340167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4. Cruce Híbrido</a:t>
            </a:r>
            <a:endParaRPr/>
          </a:p>
        </p:txBody>
      </p:sp>
      <p:sp>
        <p:nvSpPr>
          <p:cNvPr id="234" name="Google Shape;234;p21"/>
          <p:cNvSpPr txBox="1"/>
          <p:nvPr/>
        </p:nvSpPr>
        <p:spPr>
          <a:xfrm>
            <a:off x="7469534" y="3897362"/>
            <a:ext cx="1794569" cy="5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2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Cálculo vectorial + descarte estricto de productos con stock &lt;= 0.</a:t>
            </a:r>
            <a:endParaRPr/>
          </a:p>
        </p:txBody>
      </p:sp>
      <p:pic>
        <p:nvPicPr>
          <p:cNvPr descr="image.png" id="235" name="Google Shape;235;p2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740354" y="310678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1"/>
          <p:cNvSpPr txBox="1"/>
          <p:nvPr/>
        </p:nvSpPr>
        <p:spPr>
          <a:xfrm>
            <a:off x="9740354" y="3602087"/>
            <a:ext cx="1530191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5. Respuesta JSON</a:t>
            </a:r>
            <a:endParaRPr/>
          </a:p>
        </p:txBody>
      </p:sp>
      <p:sp>
        <p:nvSpPr>
          <p:cNvPr id="237" name="Google Shape;237;p21"/>
          <p:cNvSpPr txBox="1"/>
          <p:nvPr/>
        </p:nvSpPr>
        <p:spPr>
          <a:xfrm>
            <a:off x="9740354" y="3897362"/>
            <a:ext cx="1794569" cy="5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2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Entrega inmediata de SKU, precio, stock y score para cerrar la venta.</a:t>
            </a:r>
            <a:endParaRPr/>
          </a:p>
        </p:txBody>
      </p:sp>
      <p:pic>
        <p:nvPicPr>
          <p:cNvPr descr="image.png" id="238" name="Google Shape;238;p2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28513" y="3202037"/>
            <a:ext cx="2381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9" name="Google Shape;239;p2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3032670" y="3202037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0" name="Google Shape;240;p21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5270152" y="3202037"/>
            <a:ext cx="2381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1" name="Google Shape;241;p21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7550497" y="3202037"/>
            <a:ext cx="2190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2" name="Google Shape;242;p21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9859416" y="3202037"/>
            <a:ext cx="1428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1"/>
          <p:cNvSpPr txBox="1"/>
          <p:nvPr/>
        </p:nvSpPr>
        <p:spPr>
          <a:xfrm>
            <a:off x="495300" y="419100"/>
            <a:ext cx="11696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Story Board del PMV: Caso Ferretero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8" name="Google Shape;24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49" name="Google Shape;249;p22"/>
          <p:cNvGraphicFramePr/>
          <p:nvPr/>
        </p:nvGraphicFramePr>
        <p:xfrm>
          <a:off x="495300" y="243393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{0C3C7619-D346-4F50-80D1-CD64E9786F33}</a:tableStyleId>
              </a:tblPr>
              <a:tblGrid>
                <a:gridCol w="2800350"/>
                <a:gridCol w="1792200"/>
                <a:gridCol w="6608850"/>
              </a:tblGrid>
              <a:tr h="379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Fase / Hito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Semanas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1E293B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Entregables Técnicos y Actividades Clave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379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12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Fase 1: Cimientos y Diseño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Sem. 1 a 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Levantamiento IEEE 830, backlog inicial, modelo entidad-relación y dockerización.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9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12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Épica 001: Integration's API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Sem. 5 a 6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Endpoints de ingesta Node.js, validaciones y esquema transaccional en PostgreSQL.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9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12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Épica 002: Pipeline IA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Sem. 7 a 8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Worker en Python para normalización de catálogo y embeddings en pgvector.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9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12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Épicas 003 y 004: Motor Híbrido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Sem. 9 a 10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Endpoints de consulta en lenguaje natural, similitud y filtro estricto de stock.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9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12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Épica 005: Contrato JSON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Sem. 11 a 12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Estandarización de respuestas transaccionales y especificación OpenAPI/Swagger.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9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12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Fase 6: Certificación y Cierre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Sem. 13 a 14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Pruebas de estrés, métricas de precisión, documentación ISO 9000 y empaquetado final.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50" name="Google Shape;250;p22"/>
          <p:cNvSpPr/>
          <p:nvPr/>
        </p:nvSpPr>
        <p:spPr>
          <a:xfrm>
            <a:off x="495300" y="2806303"/>
            <a:ext cx="28003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2"/>
          <p:cNvSpPr/>
          <p:nvPr/>
        </p:nvSpPr>
        <p:spPr>
          <a:xfrm>
            <a:off x="3295650" y="2806303"/>
            <a:ext cx="179218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2"/>
          <p:cNvSpPr/>
          <p:nvPr/>
        </p:nvSpPr>
        <p:spPr>
          <a:xfrm>
            <a:off x="5087838" y="2806303"/>
            <a:ext cx="660886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2"/>
          <p:cNvSpPr/>
          <p:nvPr/>
        </p:nvSpPr>
        <p:spPr>
          <a:xfrm>
            <a:off x="495300" y="3186261"/>
            <a:ext cx="28003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2"/>
          <p:cNvSpPr/>
          <p:nvPr/>
        </p:nvSpPr>
        <p:spPr>
          <a:xfrm>
            <a:off x="3295650" y="3186261"/>
            <a:ext cx="179218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2"/>
          <p:cNvSpPr/>
          <p:nvPr/>
        </p:nvSpPr>
        <p:spPr>
          <a:xfrm>
            <a:off x="5087838" y="3186261"/>
            <a:ext cx="660886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2"/>
          <p:cNvSpPr/>
          <p:nvPr/>
        </p:nvSpPr>
        <p:spPr>
          <a:xfrm>
            <a:off x="495300" y="3566219"/>
            <a:ext cx="28003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2"/>
          <p:cNvSpPr/>
          <p:nvPr/>
        </p:nvSpPr>
        <p:spPr>
          <a:xfrm>
            <a:off x="3295650" y="3566219"/>
            <a:ext cx="179218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2"/>
          <p:cNvSpPr/>
          <p:nvPr/>
        </p:nvSpPr>
        <p:spPr>
          <a:xfrm>
            <a:off x="5087838" y="3566219"/>
            <a:ext cx="660886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2"/>
          <p:cNvSpPr/>
          <p:nvPr/>
        </p:nvSpPr>
        <p:spPr>
          <a:xfrm>
            <a:off x="495300" y="3946177"/>
            <a:ext cx="28003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2"/>
          <p:cNvSpPr/>
          <p:nvPr/>
        </p:nvSpPr>
        <p:spPr>
          <a:xfrm>
            <a:off x="3295650" y="3946177"/>
            <a:ext cx="179218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2"/>
          <p:cNvSpPr/>
          <p:nvPr/>
        </p:nvSpPr>
        <p:spPr>
          <a:xfrm>
            <a:off x="5087838" y="3946177"/>
            <a:ext cx="660886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2"/>
          <p:cNvSpPr/>
          <p:nvPr/>
        </p:nvSpPr>
        <p:spPr>
          <a:xfrm>
            <a:off x="495300" y="4326135"/>
            <a:ext cx="28003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2"/>
          <p:cNvSpPr/>
          <p:nvPr/>
        </p:nvSpPr>
        <p:spPr>
          <a:xfrm>
            <a:off x="3295650" y="4326135"/>
            <a:ext cx="179218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2"/>
          <p:cNvSpPr/>
          <p:nvPr/>
        </p:nvSpPr>
        <p:spPr>
          <a:xfrm>
            <a:off x="5087838" y="4326135"/>
            <a:ext cx="660886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2"/>
          <p:cNvSpPr/>
          <p:nvPr/>
        </p:nvSpPr>
        <p:spPr>
          <a:xfrm>
            <a:off x="495300" y="4706094"/>
            <a:ext cx="28003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2"/>
          <p:cNvSpPr/>
          <p:nvPr/>
        </p:nvSpPr>
        <p:spPr>
          <a:xfrm>
            <a:off x="3295650" y="4706094"/>
            <a:ext cx="179218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2"/>
          <p:cNvSpPr/>
          <p:nvPr/>
        </p:nvSpPr>
        <p:spPr>
          <a:xfrm>
            <a:off x="5087838" y="4706094"/>
            <a:ext cx="660886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2"/>
          <p:cNvSpPr txBox="1"/>
          <p:nvPr/>
        </p:nvSpPr>
        <p:spPr>
          <a:xfrm>
            <a:off x="495300" y="419100"/>
            <a:ext cx="11696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Plan de Trabajo y Cronograma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3" name="Google Shape;27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4" name="Google Shape;274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300" y="2925812"/>
            <a:ext cx="2686050" cy="1673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5" name="Google Shape;275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33750" y="2925812"/>
            <a:ext cx="2686050" cy="1673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6" name="Google Shape;276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72200" y="2925812"/>
            <a:ext cx="2686050" cy="1673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7" name="Google Shape;277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10650" y="2925812"/>
            <a:ext cx="2686050" cy="1673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8" name="Google Shape;278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7225" y="310678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23"/>
          <p:cNvSpPr txBox="1"/>
          <p:nvPr/>
        </p:nvSpPr>
        <p:spPr>
          <a:xfrm>
            <a:off x="657225" y="3602087"/>
            <a:ext cx="1940242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Repositorio Versionado</a:t>
            </a:r>
            <a:endParaRPr/>
          </a:p>
        </p:txBody>
      </p:sp>
      <p:sp>
        <p:nvSpPr>
          <p:cNvPr id="280" name="Google Shape;280;p23"/>
          <p:cNvSpPr txBox="1"/>
          <p:nvPr/>
        </p:nvSpPr>
        <p:spPr>
          <a:xfrm>
            <a:off x="657225" y="3897362"/>
            <a:ext cx="2362200" cy="5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2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Trazabilidad total de commits atómicos, ramas por épica y pull requests documentados.</a:t>
            </a:r>
            <a:endParaRPr/>
          </a:p>
        </p:txBody>
      </p:sp>
      <p:pic>
        <p:nvPicPr>
          <p:cNvPr descr="image.png" id="281" name="Google Shape;281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495675" y="310678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23"/>
          <p:cNvSpPr txBox="1"/>
          <p:nvPr/>
        </p:nvSpPr>
        <p:spPr>
          <a:xfrm>
            <a:off x="3495675" y="3602087"/>
            <a:ext cx="1500187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Contrato OpenAPI</a:t>
            </a:r>
            <a:endParaRPr/>
          </a:p>
        </p:txBody>
      </p:sp>
      <p:sp>
        <p:nvSpPr>
          <p:cNvPr id="283" name="Google Shape;283;p23"/>
          <p:cNvSpPr txBox="1"/>
          <p:nvPr/>
        </p:nvSpPr>
        <p:spPr>
          <a:xfrm>
            <a:off x="3495675" y="3897362"/>
            <a:ext cx="2362200" cy="5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2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Especificación Swagger estandarizada para endpoints de ingesta, vectorización y consulta.</a:t>
            </a:r>
            <a:endParaRPr/>
          </a:p>
        </p:txBody>
      </p:sp>
      <p:pic>
        <p:nvPicPr>
          <p:cNvPr descr="image.png" id="284" name="Google Shape;284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310678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23"/>
          <p:cNvSpPr txBox="1"/>
          <p:nvPr/>
        </p:nvSpPr>
        <p:spPr>
          <a:xfrm>
            <a:off x="6334125" y="3602087"/>
            <a:ext cx="1590198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Batería de Pruebas</a:t>
            </a:r>
            <a:endParaRPr/>
          </a:p>
        </p:txBody>
      </p:sp>
      <p:sp>
        <p:nvSpPr>
          <p:cNvPr id="286" name="Google Shape;286;p23"/>
          <p:cNvSpPr txBox="1"/>
          <p:nvPr/>
        </p:nvSpPr>
        <p:spPr>
          <a:xfrm>
            <a:off x="6334125" y="3897362"/>
            <a:ext cx="2362200" cy="5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2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Tests unitarios y de integración para validar consistencia de datos y tiempos de respuesta.</a:t>
            </a:r>
            <a:endParaRPr/>
          </a:p>
        </p:txBody>
      </p:sp>
      <p:pic>
        <p:nvPicPr>
          <p:cNvPr descr="image.png" id="287" name="Google Shape;287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172575" y="310678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3"/>
          <p:cNvSpPr txBox="1"/>
          <p:nvPr/>
        </p:nvSpPr>
        <p:spPr>
          <a:xfrm>
            <a:off x="9172575" y="3602087"/>
            <a:ext cx="1660207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Métricas de Calidad</a:t>
            </a:r>
            <a:endParaRPr/>
          </a:p>
        </p:txBody>
      </p:sp>
      <p:sp>
        <p:nvSpPr>
          <p:cNvPr id="289" name="Google Shape;289;p23"/>
          <p:cNvSpPr txBox="1"/>
          <p:nvPr/>
        </p:nvSpPr>
        <p:spPr>
          <a:xfrm>
            <a:off x="9172575" y="3897362"/>
            <a:ext cx="2362200" cy="5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2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Informes de latencia de consulta (&lt;500ms) y evaluación de precisión semántica en catálogo ferretero.</a:t>
            </a:r>
            <a:endParaRPr/>
          </a:p>
        </p:txBody>
      </p:sp>
      <p:pic>
        <p:nvPicPr>
          <p:cNvPr descr="image.png" id="290" name="Google Shape;290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57237" y="3202037"/>
            <a:ext cx="1809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1" name="Google Shape;291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614737" y="3202037"/>
            <a:ext cx="1428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2" name="Google Shape;292;p2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429375" y="3202037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3" name="Google Shape;293;p2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267825" y="3202037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23"/>
          <p:cNvSpPr txBox="1"/>
          <p:nvPr/>
        </p:nvSpPr>
        <p:spPr>
          <a:xfrm>
            <a:off x="495300" y="419100"/>
            <a:ext cx="11696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Evidencias y Certificación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9" name="Google Shape;29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0" name="Google Shape;300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300" y="2566987"/>
            <a:ext cx="5467350" cy="2390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1" name="Google Shape;301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29350" y="2566987"/>
            <a:ext cx="5467350" cy="2390775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24"/>
          <p:cNvSpPr txBox="1"/>
          <p:nvPr/>
        </p:nvSpPr>
        <p:spPr>
          <a:xfrm>
            <a:off x="1066800" y="2786062"/>
            <a:ext cx="4890611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40A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Tomás Brogi Castillo</a:t>
            </a:r>
            <a:endParaRPr/>
          </a:p>
        </p:txBody>
      </p:sp>
      <p:sp>
        <p:nvSpPr>
          <p:cNvPr id="303" name="Google Shape;303;p24"/>
          <p:cNvSpPr txBox="1"/>
          <p:nvPr/>
        </p:nvSpPr>
        <p:spPr>
          <a:xfrm>
            <a:off x="733425" y="3148012"/>
            <a:ext cx="49911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Rol:</a:t>
            </a:r>
            <a:r>
              <a:rPr b="0" i="0" lang="en-US" sz="11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Backend &amp; Database Lead</a:t>
            </a:r>
            <a:endParaRPr/>
          </a:p>
        </p:txBody>
      </p:sp>
      <p:sp>
        <p:nvSpPr>
          <p:cNvPr id="304" name="Google Shape;304;p24"/>
          <p:cNvSpPr txBox="1"/>
          <p:nvPr/>
        </p:nvSpPr>
        <p:spPr>
          <a:xfrm>
            <a:off x="6800850" y="2786062"/>
            <a:ext cx="4890611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40A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David Martínez Arenas</a:t>
            </a:r>
            <a:endParaRPr/>
          </a:p>
        </p:txBody>
      </p:sp>
      <p:sp>
        <p:nvSpPr>
          <p:cNvPr id="305" name="Google Shape;305;p24"/>
          <p:cNvSpPr txBox="1"/>
          <p:nvPr/>
        </p:nvSpPr>
        <p:spPr>
          <a:xfrm>
            <a:off x="6467475" y="3148012"/>
            <a:ext cx="49911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Rol:</a:t>
            </a:r>
            <a:r>
              <a:rPr b="0" i="0" lang="en-US" sz="11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Data &amp; QA Lead</a:t>
            </a:r>
            <a:endParaRPr/>
          </a:p>
        </p:txBody>
      </p:sp>
      <p:pic>
        <p:nvPicPr>
          <p:cNvPr descr="image.png" id="306" name="Google Shape;306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33425" y="2833687"/>
            <a:ext cx="23812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24"/>
          <p:cNvSpPr txBox="1"/>
          <p:nvPr/>
        </p:nvSpPr>
        <p:spPr>
          <a:xfrm>
            <a:off x="819150" y="3424237"/>
            <a:ext cx="857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08" name="Google Shape;308;p24"/>
          <p:cNvSpPr txBox="1"/>
          <p:nvPr/>
        </p:nvSpPr>
        <p:spPr>
          <a:xfrm>
            <a:off x="904875" y="3424237"/>
            <a:ext cx="48196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725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Arquitectura en Node.js/TypeScript y persistencia transaccional en PostgreSQL.</a:t>
            </a:r>
            <a:endParaRPr/>
          </a:p>
        </p:txBody>
      </p:sp>
      <p:sp>
        <p:nvSpPr>
          <p:cNvPr id="309" name="Google Shape;309;p24"/>
          <p:cNvSpPr txBox="1"/>
          <p:nvPr/>
        </p:nvSpPr>
        <p:spPr>
          <a:xfrm>
            <a:off x="819150" y="3900487"/>
            <a:ext cx="857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10" name="Google Shape;310;p24"/>
          <p:cNvSpPr txBox="1"/>
          <p:nvPr/>
        </p:nvSpPr>
        <p:spPr>
          <a:xfrm>
            <a:off x="904875" y="3900487"/>
            <a:ext cx="48196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725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Desarrollo de API de ingesta y validación de esquemas (Épica 001).</a:t>
            </a:r>
            <a:endParaRPr/>
          </a:p>
        </p:txBody>
      </p:sp>
      <p:sp>
        <p:nvSpPr>
          <p:cNvPr id="311" name="Google Shape;311;p24"/>
          <p:cNvSpPr txBox="1"/>
          <p:nvPr/>
        </p:nvSpPr>
        <p:spPr>
          <a:xfrm>
            <a:off x="819150" y="4176712"/>
            <a:ext cx="857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12" name="Google Shape;312;p24"/>
          <p:cNvSpPr txBox="1"/>
          <p:nvPr/>
        </p:nvSpPr>
        <p:spPr>
          <a:xfrm>
            <a:off x="904875" y="4176712"/>
            <a:ext cx="48196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725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Definición y estandarización del contrato JSON de respuesta (Épica 005).</a:t>
            </a:r>
            <a:endParaRPr/>
          </a:p>
        </p:txBody>
      </p:sp>
      <p:sp>
        <p:nvSpPr>
          <p:cNvPr id="313" name="Google Shape;313;p24"/>
          <p:cNvSpPr txBox="1"/>
          <p:nvPr/>
        </p:nvSpPr>
        <p:spPr>
          <a:xfrm>
            <a:off x="819150" y="4452937"/>
            <a:ext cx="857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14" name="Google Shape;314;p24"/>
          <p:cNvSpPr txBox="1"/>
          <p:nvPr/>
        </p:nvSpPr>
        <p:spPr>
          <a:xfrm>
            <a:off x="904875" y="4452937"/>
            <a:ext cx="48196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725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Garantía de consistencia transaccional y disponibilidad de stock.</a:t>
            </a:r>
            <a:endParaRPr/>
          </a:p>
        </p:txBody>
      </p:sp>
      <p:pic>
        <p:nvPicPr>
          <p:cNvPr descr="image.png" id="315" name="Google Shape;315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67475" y="2833687"/>
            <a:ext cx="23812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24"/>
          <p:cNvSpPr txBox="1"/>
          <p:nvPr/>
        </p:nvSpPr>
        <p:spPr>
          <a:xfrm>
            <a:off x="6553200" y="3424237"/>
            <a:ext cx="857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17" name="Google Shape;317;p24"/>
          <p:cNvSpPr txBox="1"/>
          <p:nvPr/>
        </p:nvSpPr>
        <p:spPr>
          <a:xfrm>
            <a:off x="6638925" y="3424237"/>
            <a:ext cx="48196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725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Worker en Python para generación asíncrona de embeddings (Épica 002).</a:t>
            </a:r>
            <a:endParaRPr/>
          </a:p>
        </p:txBody>
      </p:sp>
      <p:sp>
        <p:nvSpPr>
          <p:cNvPr id="318" name="Google Shape;318;p24"/>
          <p:cNvSpPr txBox="1"/>
          <p:nvPr/>
        </p:nvSpPr>
        <p:spPr>
          <a:xfrm>
            <a:off x="6553200" y="3700462"/>
            <a:ext cx="857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19" name="Google Shape;319;p24"/>
          <p:cNvSpPr txBox="1"/>
          <p:nvPr/>
        </p:nvSpPr>
        <p:spPr>
          <a:xfrm>
            <a:off x="6638925" y="3700462"/>
            <a:ext cx="481965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725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Consultas vectoriales y normalización semántica en pgvector (Épica 003 y 004).</a:t>
            </a:r>
            <a:endParaRPr/>
          </a:p>
        </p:txBody>
      </p:sp>
      <p:sp>
        <p:nvSpPr>
          <p:cNvPr id="320" name="Google Shape;320;p24"/>
          <p:cNvSpPr txBox="1"/>
          <p:nvPr/>
        </p:nvSpPr>
        <p:spPr>
          <a:xfrm>
            <a:off x="6553200" y="4186237"/>
            <a:ext cx="857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21" name="Google Shape;321;p24"/>
          <p:cNvSpPr txBox="1"/>
          <p:nvPr/>
        </p:nvSpPr>
        <p:spPr>
          <a:xfrm>
            <a:off x="6638925" y="4186237"/>
            <a:ext cx="48196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725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Diseño de suites de pruebas automatizadas y cobertura de código.</a:t>
            </a:r>
            <a:endParaRPr/>
          </a:p>
        </p:txBody>
      </p:sp>
      <p:sp>
        <p:nvSpPr>
          <p:cNvPr id="322" name="Google Shape;322;p24"/>
          <p:cNvSpPr txBox="1"/>
          <p:nvPr/>
        </p:nvSpPr>
        <p:spPr>
          <a:xfrm>
            <a:off x="6553200" y="4462462"/>
            <a:ext cx="857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23" name="Google Shape;323;p24"/>
          <p:cNvSpPr txBox="1"/>
          <p:nvPr/>
        </p:nvSpPr>
        <p:spPr>
          <a:xfrm>
            <a:off x="6638925" y="4462462"/>
            <a:ext cx="48196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725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Evaluación de métricas de precisión y certificación de calidad.</a:t>
            </a:r>
            <a:endParaRPr/>
          </a:p>
        </p:txBody>
      </p:sp>
      <p:sp>
        <p:nvSpPr>
          <p:cNvPr id="324" name="Google Shape;324;p24"/>
          <p:cNvSpPr txBox="1"/>
          <p:nvPr/>
        </p:nvSpPr>
        <p:spPr>
          <a:xfrm>
            <a:off x="495300" y="419100"/>
            <a:ext cx="11696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Trabajo en Equipo y Roles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2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25"/>
          <p:cNvSpPr txBox="1"/>
          <p:nvPr/>
        </p:nvSpPr>
        <p:spPr>
          <a:xfrm>
            <a:off x="495300" y="419100"/>
            <a:ext cx="11201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Conclusión y Próximos Pasos</a:t>
            </a:r>
            <a:endParaRPr b="1" sz="2400">
              <a:solidFill>
                <a:srgbClr val="0F172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331" name="Google Shape;331;p25"/>
          <p:cNvGrpSpPr/>
          <p:nvPr/>
        </p:nvGrpSpPr>
        <p:grpSpPr>
          <a:xfrm>
            <a:off x="495300" y="1333500"/>
            <a:ext cx="11201400" cy="1428900"/>
            <a:chOff x="495300" y="1333500"/>
            <a:chExt cx="11201400" cy="1428900"/>
          </a:xfrm>
        </p:grpSpPr>
        <p:sp>
          <p:nvSpPr>
            <p:cNvPr id="332" name="Google Shape;332;p25"/>
            <p:cNvSpPr/>
            <p:nvPr/>
          </p:nvSpPr>
          <p:spPr>
            <a:xfrm>
              <a:off x="495300" y="1333500"/>
              <a:ext cx="11201400" cy="1428900"/>
            </a:xfrm>
            <a:prstGeom prst="roundRect">
              <a:avLst>
                <a:gd fmla="val 10666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25"/>
            <p:cNvSpPr/>
            <p:nvPr/>
          </p:nvSpPr>
          <p:spPr>
            <a:xfrm>
              <a:off x="762000" y="1619250"/>
              <a:ext cx="476400" cy="476400"/>
            </a:xfrm>
            <a:prstGeom prst="roundRect">
              <a:avLst>
                <a:gd fmla="val 24000" name="adj"/>
              </a:avLst>
            </a:prstGeom>
            <a:solidFill>
              <a:srgbClr val="EFF6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25"/>
            <p:cNvSpPr txBox="1"/>
            <p:nvPr/>
          </p:nvSpPr>
          <p:spPr>
            <a:xfrm>
              <a:off x="885825" y="1778127"/>
              <a:ext cx="2286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2563E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verified</a:t>
              </a:r>
              <a:endParaRPr sz="2400">
                <a:solidFill>
                  <a:srgbClr val="2563E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35" name="Google Shape;335;p25"/>
            <p:cNvSpPr txBox="1"/>
            <p:nvPr/>
          </p:nvSpPr>
          <p:spPr>
            <a:xfrm>
              <a:off x="1466850" y="1619250"/>
              <a:ext cx="9849000" cy="904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1E40AF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Propósito y Validación del PMV</a:t>
              </a:r>
              <a:endParaRPr b="0" sz="1400">
                <a:solidFill>
                  <a:srgbClr val="1E40AF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600"/>
                </a:spcAft>
                <a:buNone/>
              </a:pPr>
              <a:r>
                <a:rPr b="0" lang="en-US" sz="110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El proyecto se orienta a probar la viabilidad técnica de un flujo asíncrono de IA en Python integrado con Node.js. El objetivo principal es asegurar búsquedas semánticas precisas con tiempos de respuesta óptimos (menores a 500ms) respetando estrictamente el stock transaccional en tiempo real, sin dar por sentado el resultado final sino validando cada hipótesis experimental.</a:t>
              </a:r>
              <a:endParaRPr b="0" sz="11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336" name="Google Shape;336;p25"/>
          <p:cNvGrpSpPr/>
          <p:nvPr/>
        </p:nvGrpSpPr>
        <p:grpSpPr>
          <a:xfrm>
            <a:off x="495300" y="2990850"/>
            <a:ext cx="5467500" cy="3238500"/>
            <a:chOff x="495300" y="2990850"/>
            <a:chExt cx="5467500" cy="3238500"/>
          </a:xfrm>
        </p:grpSpPr>
        <p:sp>
          <p:nvSpPr>
            <p:cNvPr id="337" name="Google Shape;337;p25"/>
            <p:cNvSpPr/>
            <p:nvPr/>
          </p:nvSpPr>
          <p:spPr>
            <a:xfrm>
              <a:off x="495300" y="2990850"/>
              <a:ext cx="5467500" cy="3238500"/>
            </a:xfrm>
            <a:prstGeom prst="roundRect">
              <a:avLst>
                <a:gd fmla="val 4705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25"/>
            <p:cNvSpPr/>
            <p:nvPr/>
          </p:nvSpPr>
          <p:spPr>
            <a:xfrm>
              <a:off x="762000" y="3276600"/>
              <a:ext cx="476400" cy="476400"/>
            </a:xfrm>
            <a:prstGeom prst="roundRect">
              <a:avLst>
                <a:gd fmla="val 24000" name="adj"/>
              </a:avLst>
            </a:prstGeom>
            <a:solidFill>
              <a:srgbClr val="EFF6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25"/>
            <p:cNvSpPr txBox="1"/>
            <p:nvPr/>
          </p:nvSpPr>
          <p:spPr>
            <a:xfrm>
              <a:off x="885825" y="3435477"/>
              <a:ext cx="2286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2563E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insights</a:t>
              </a:r>
              <a:endParaRPr sz="2400">
                <a:solidFill>
                  <a:srgbClr val="2563E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40" name="Google Shape;340;p25"/>
            <p:cNvSpPr txBox="1"/>
            <p:nvPr/>
          </p:nvSpPr>
          <p:spPr>
            <a:xfrm>
              <a:off x="1466850" y="3276600"/>
              <a:ext cx="4210200" cy="2667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95">
                  <a:solidFill>
                    <a:srgbClr val="1E40AF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Resultados de Diseño Buscados</a:t>
              </a:r>
              <a:endParaRPr b="0" sz="1295">
                <a:solidFill>
                  <a:srgbClr val="1E40AF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  <a:p>
              <a:pPr indent="-310833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334155"/>
                </a:buClr>
                <a:buSzPts val="1295"/>
                <a:buFont typeface="Lato"/>
                <a:buChar char="●"/>
              </a:pPr>
              <a:r>
                <a:rPr b="1" lang="en-US" sz="1295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Arquitectura Desacoplada:</a:t>
              </a:r>
              <a:r>
                <a:rPr b="0" lang="en-US" sz="1295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 Establecer una separación clara de responsabilidades entre el backend transaccional y el pipeline de datos para garantizar la escalabilidad.</a:t>
              </a:r>
              <a:endParaRPr b="0" sz="1295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310833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34155"/>
                </a:buClr>
                <a:buSzPts val="1295"/>
                <a:buFont typeface="Lato"/>
                <a:buChar char="●"/>
              </a:pPr>
              <a:r>
                <a:rPr b="1" lang="en-US" sz="1295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Búsqueda Híbrida Viable:</a:t>
              </a:r>
              <a:r>
                <a:rPr b="0" lang="en-US" sz="1295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 Lograr que coexistan de manera eficiente los filtros de inventario clásicos con la proximidad semántica de embeddings vectoriales.</a:t>
              </a:r>
              <a:endParaRPr b="0" sz="1295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310833" lvl="0" marL="457200" rtl="0" algn="l">
                <a:spcBef>
                  <a:spcPts val="600"/>
                </a:spcBef>
                <a:spcAft>
                  <a:spcPts val="600"/>
                </a:spcAft>
                <a:buClr>
                  <a:srgbClr val="334155"/>
                </a:buClr>
                <a:buSzPts val="1295"/>
                <a:buFont typeface="Lato"/>
                <a:buChar char="●"/>
              </a:pPr>
              <a:r>
                <a:rPr b="1" lang="en-US" sz="1295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Contrato Integrable:</a:t>
              </a:r>
              <a:r>
                <a:rPr b="0" lang="en-US" sz="1295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 Definir un estándar de API robusto mediante OpenAPI que facilite la adopción del motor por cualquier ERP o POS ferretero.</a:t>
              </a:r>
              <a:endParaRPr b="0" sz="1295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341" name="Google Shape;341;p25"/>
          <p:cNvGrpSpPr/>
          <p:nvPr/>
        </p:nvGrpSpPr>
        <p:grpSpPr>
          <a:xfrm>
            <a:off x="6229350" y="2990850"/>
            <a:ext cx="5467500" cy="3238500"/>
            <a:chOff x="6229350" y="2990850"/>
            <a:chExt cx="5467500" cy="3238500"/>
          </a:xfrm>
        </p:grpSpPr>
        <p:sp>
          <p:nvSpPr>
            <p:cNvPr id="342" name="Google Shape;342;p25"/>
            <p:cNvSpPr/>
            <p:nvPr/>
          </p:nvSpPr>
          <p:spPr>
            <a:xfrm>
              <a:off x="6229350" y="2990850"/>
              <a:ext cx="5467500" cy="3238500"/>
            </a:xfrm>
            <a:prstGeom prst="roundRect">
              <a:avLst>
                <a:gd fmla="val 4705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25"/>
            <p:cNvSpPr/>
            <p:nvPr/>
          </p:nvSpPr>
          <p:spPr>
            <a:xfrm>
              <a:off x="6496050" y="3276600"/>
              <a:ext cx="476400" cy="476400"/>
            </a:xfrm>
            <a:prstGeom prst="roundRect">
              <a:avLst>
                <a:gd fmla="val 24000" name="adj"/>
              </a:avLst>
            </a:prstGeom>
            <a:solidFill>
              <a:srgbClr val="EFF6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25"/>
            <p:cNvSpPr txBox="1"/>
            <p:nvPr/>
          </p:nvSpPr>
          <p:spPr>
            <a:xfrm>
              <a:off x="6619875" y="3435477"/>
              <a:ext cx="2286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2563E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rocket_launch</a:t>
              </a:r>
              <a:endParaRPr sz="2400">
                <a:solidFill>
                  <a:srgbClr val="2563E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45" name="Google Shape;345;p25"/>
            <p:cNvSpPr txBox="1"/>
            <p:nvPr/>
          </p:nvSpPr>
          <p:spPr>
            <a:xfrm>
              <a:off x="7200900" y="3276600"/>
              <a:ext cx="4210200" cy="2667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90">
                  <a:solidFill>
                    <a:srgbClr val="1E40AF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Líneas de Evolución y Aspiraciones</a:t>
              </a:r>
              <a:endParaRPr b="0" sz="1190">
                <a:solidFill>
                  <a:srgbClr val="1E40AF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  <a:p>
              <a:pPr indent="-304165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334155"/>
                </a:buClr>
                <a:buSzPts val="1190"/>
                <a:buFont typeface="Lato"/>
                <a:buChar char="●"/>
              </a:pPr>
              <a:r>
                <a:rPr b="1" lang="en-US" sz="119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Escalabilidad Proyectada:</a:t>
              </a:r>
              <a:r>
                <a:rPr b="0" lang="en-US" sz="119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 Planificar la transición de workers de procesamiento hacia arquitecturas serverless o colas distribuidas para evitar cuellos de botella.</a:t>
              </a:r>
              <a:endParaRPr b="0" sz="119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30416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34155"/>
                </a:buClr>
                <a:buSzPts val="1190"/>
                <a:buFont typeface="Lato"/>
                <a:buChar char="●"/>
              </a:pPr>
              <a:r>
                <a:rPr b="1" lang="en-US" sz="119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Consistencia en Tiempo Real:</a:t>
              </a:r>
              <a:r>
                <a:rPr b="0" lang="en-US" sz="119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 Evaluar la integración de webhooks asíncronos que mantengan el inventario del motor alineado de manera instantánea.</a:t>
              </a:r>
              <a:endParaRPr b="0" sz="119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304165" lvl="0" marL="457200" rtl="0" algn="l">
                <a:spcBef>
                  <a:spcPts val="600"/>
                </a:spcBef>
                <a:spcAft>
                  <a:spcPts val="600"/>
                </a:spcAft>
                <a:buClr>
                  <a:srgbClr val="334155"/>
                </a:buClr>
                <a:buSzPts val="1190"/>
                <a:buFont typeface="Lato"/>
                <a:buChar char="●"/>
              </a:pPr>
              <a:r>
                <a:rPr b="1" lang="en-US" sz="119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Calidad y Deriva:</a:t>
              </a:r>
              <a:r>
                <a:rPr b="0" lang="en-US" sz="119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 Diseñar mecanismos de observabilidad sobre los embeddings para monitorizar y adaptar el modelo ante la evolución de las consultas del taller.</a:t>
              </a:r>
              <a:endParaRPr b="0" sz="119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